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48300" y="469468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765536" y="349757"/>
            <a:ext cx="1066800" cy="1078230"/>
          </a:xfrm>
          <a:custGeom>
            <a:avLst/>
            <a:gdLst/>
            <a:ahLst/>
            <a:cxnLst/>
            <a:rect l="l" t="t" r="r" b="b"/>
            <a:pathLst>
              <a:path w="1066800" h="107823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230"/>
                </a:lnTo>
                <a:lnTo>
                  <a:pt x="1066800" y="1078230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3944" y="5489447"/>
            <a:ext cx="1066800" cy="1078230"/>
          </a:xfrm>
          <a:custGeom>
            <a:avLst/>
            <a:gdLst/>
            <a:ahLst/>
            <a:cxnLst/>
            <a:rect l="l" t="t" r="r" b="b"/>
            <a:pathLst>
              <a:path w="1066800" h="1078229">
                <a:moveTo>
                  <a:pt x="1066800" y="1032510"/>
                </a:moveTo>
                <a:lnTo>
                  <a:pt x="45720" y="1032510"/>
                </a:lnTo>
                <a:lnTo>
                  <a:pt x="45720" y="0"/>
                </a:lnTo>
                <a:lnTo>
                  <a:pt x="0" y="0"/>
                </a:lnTo>
                <a:lnTo>
                  <a:pt x="0" y="1032510"/>
                </a:lnTo>
                <a:lnTo>
                  <a:pt x="0" y="1066800"/>
                </a:lnTo>
                <a:lnTo>
                  <a:pt x="0" y="1078230"/>
                </a:lnTo>
                <a:lnTo>
                  <a:pt x="1066800" y="1078230"/>
                </a:lnTo>
                <a:lnTo>
                  <a:pt x="1066800" y="103251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97686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5471" y="300227"/>
            <a:ext cx="783335" cy="12946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59" y="336803"/>
            <a:ext cx="833056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rgbClr val="C55A1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5073" y="1898650"/>
            <a:ext cx="9540240" cy="1523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3494" y="2002282"/>
            <a:ext cx="8330565" cy="8572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i="0">
                <a:latin typeface="Times New Roman"/>
                <a:cs typeface="Times New Roman"/>
              </a:rPr>
              <a:t>PEC-</a:t>
            </a:r>
            <a:r>
              <a:rPr dirty="0" sz="3600" spc="-50" i="0">
                <a:latin typeface="Times New Roman"/>
                <a:cs typeface="Times New Roman"/>
              </a:rPr>
              <a:t>3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BUDGET</a:t>
            </a:r>
            <a:r>
              <a:rPr dirty="0" spc="-30"/>
              <a:t> </a:t>
            </a:r>
            <a:r>
              <a:rPr dirty="0"/>
              <a:t>OVERRUNS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INTERIOR</a:t>
            </a:r>
            <a:r>
              <a:rPr dirty="0" spc="-20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10"/>
              <a:t>PROJECT:</a:t>
            </a:r>
            <a:r>
              <a:rPr dirty="0" spc="-25"/>
              <a:t> </a:t>
            </a:r>
            <a:r>
              <a:rPr dirty="0"/>
              <a:t>CAUSE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57727" y="3779773"/>
            <a:ext cx="352234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35" b="1">
                <a:latin typeface="Times New Roman"/>
                <a:cs typeface="Times New Roman"/>
              </a:rPr>
              <a:t>DHYAN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MUTHANNA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NA </a:t>
            </a:r>
            <a:r>
              <a:rPr dirty="0" sz="2400" spc="-10" b="1">
                <a:latin typeface="Times New Roman"/>
                <a:cs typeface="Times New Roman"/>
              </a:rPr>
              <a:t>PES1UG22BC100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13944" y="5489447"/>
            <a:ext cx="1066800" cy="1078230"/>
          </a:xfrm>
          <a:custGeom>
            <a:avLst/>
            <a:gdLst/>
            <a:ahLst/>
            <a:cxnLst/>
            <a:rect l="l" t="t" r="r" b="b"/>
            <a:pathLst>
              <a:path w="1066800" h="1078229">
                <a:moveTo>
                  <a:pt x="1066800" y="1032510"/>
                </a:moveTo>
                <a:lnTo>
                  <a:pt x="45720" y="1032510"/>
                </a:lnTo>
                <a:lnTo>
                  <a:pt x="45720" y="0"/>
                </a:lnTo>
                <a:lnTo>
                  <a:pt x="0" y="0"/>
                </a:lnTo>
                <a:lnTo>
                  <a:pt x="0" y="1032510"/>
                </a:lnTo>
                <a:lnTo>
                  <a:pt x="0" y="1066800"/>
                </a:lnTo>
                <a:lnTo>
                  <a:pt x="0" y="1078230"/>
                </a:lnTo>
                <a:lnTo>
                  <a:pt x="1066800" y="1078230"/>
                </a:lnTo>
                <a:lnTo>
                  <a:pt x="1066800" y="103251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053333" y="3137916"/>
            <a:ext cx="6045200" cy="0"/>
          </a:xfrm>
          <a:custGeom>
            <a:avLst/>
            <a:gdLst/>
            <a:ahLst/>
            <a:cxnLst/>
            <a:rect l="l" t="t" r="r" b="b"/>
            <a:pathLst>
              <a:path w="6045200" h="0">
                <a:moveTo>
                  <a:pt x="0" y="0"/>
                </a:moveTo>
                <a:lnTo>
                  <a:pt x="6044819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855452" y="265937"/>
            <a:ext cx="1066800" cy="1078230"/>
          </a:xfrm>
          <a:custGeom>
            <a:avLst/>
            <a:gdLst/>
            <a:ahLst/>
            <a:cxnLst/>
            <a:rect l="l" t="t" r="r" b="b"/>
            <a:pathLst>
              <a:path w="1066800" h="107823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230"/>
                </a:lnTo>
                <a:lnTo>
                  <a:pt x="1066800" y="1078230"/>
                </a:lnTo>
                <a:lnTo>
                  <a:pt x="1066800" y="45720"/>
                </a:lnTo>
                <a:lnTo>
                  <a:pt x="1066800" y="1143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22731" y="5599938"/>
            <a:ext cx="18656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JEEVITHA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R </a:t>
            </a:r>
            <a:r>
              <a:rPr dirty="0" sz="2400" spc="-20" b="1">
                <a:latin typeface="Times New Roman"/>
                <a:cs typeface="Times New Roman"/>
              </a:rPr>
              <a:t>ASST.</a:t>
            </a:r>
            <a:r>
              <a:rPr dirty="0" sz="2400" spc="-12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PROF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81107" y="5599938"/>
            <a:ext cx="178688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ADITI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JAIN </a:t>
            </a:r>
            <a:r>
              <a:rPr dirty="0" sz="2400" spc="-10" b="1">
                <a:latin typeface="Times New Roman"/>
                <a:cs typeface="Times New Roman"/>
              </a:rPr>
              <a:t>MODSCALE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63" y="986027"/>
            <a:ext cx="2056638" cy="38084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54" y="436626"/>
            <a:ext cx="22326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i="0">
                <a:solidFill>
                  <a:srgbClr val="006FC0"/>
                </a:solidFill>
                <a:latin typeface="Times New Roman"/>
                <a:cs typeface="Times New Roman"/>
              </a:rPr>
              <a:t>Table</a:t>
            </a:r>
            <a:r>
              <a:rPr dirty="0" sz="2400" spc="-65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 i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dirty="0" sz="2400" spc="-65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400" spc="-10" i="0">
                <a:solidFill>
                  <a:srgbClr val="006FC0"/>
                </a:solidFill>
                <a:latin typeface="Times New Roman"/>
                <a:cs typeface="Times New Roman"/>
              </a:rPr>
              <a:t>contents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1119377"/>
            <a:ext cx="8300084" cy="0"/>
          </a:xfrm>
          <a:custGeom>
            <a:avLst/>
            <a:gdLst/>
            <a:ahLst/>
            <a:cxnLst/>
            <a:rect l="l" t="t" r="r" b="b"/>
            <a:pathLst>
              <a:path w="8300084" h="0">
                <a:moveTo>
                  <a:pt x="0" y="0"/>
                </a:moveTo>
                <a:lnTo>
                  <a:pt x="8300084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53173" y="1898650"/>
          <a:ext cx="9540240" cy="1523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480"/>
                <a:gridCol w="8150859"/>
              </a:tblGrid>
              <a:tr h="528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Sl. </a:t>
                      </a: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dirty="0" sz="24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4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Presentation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1.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79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Planning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79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Conclusion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Recommendations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5471" y="300227"/>
            <a:ext cx="783335" cy="129463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32740" y="1145285"/>
            <a:ext cx="8330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BUDGET</a:t>
            </a:r>
            <a:r>
              <a:rPr dirty="0" sz="1800" spc="-3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OVERRUNS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INTERIOR</a:t>
            </a:r>
            <a:r>
              <a:rPr dirty="0" sz="1800" spc="-2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DESIGN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PROJECT: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CAUSE</a:t>
            </a:r>
            <a:r>
              <a:rPr dirty="0" sz="1800" spc="-9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59" y="1391411"/>
            <a:ext cx="1026287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LINE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GRAPH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TREND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FOR</a:t>
            </a:r>
            <a:r>
              <a:rPr dirty="0" sz="1800" spc="-7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AVERAGE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PROJECT</a:t>
            </a:r>
            <a:r>
              <a:rPr dirty="0" sz="1800" spc="-7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COST</a:t>
            </a:r>
            <a:r>
              <a:rPr dirty="0" sz="1800" spc="-7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OVERRUNS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(2019-2024)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past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five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years,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interior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overruns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increased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10%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30%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factors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2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costs,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labor</a:t>
            </a:r>
            <a:r>
              <a:rPr dirty="0" sz="1800" spc="2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inefficiencies,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scope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changes.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External</a:t>
            </a:r>
            <a:r>
              <a:rPr dirty="0" sz="1800" spc="2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inflation,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supply </a:t>
            </a:r>
            <a:r>
              <a:rPr dirty="0" sz="1800">
                <a:latin typeface="Times New Roman"/>
                <a:cs typeface="Times New Roman"/>
              </a:rPr>
              <a:t>chain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disruptions,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industry-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demand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custom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finishes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underestimation.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Reports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interior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industries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similar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trends.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44525" y="3876675"/>
          <a:ext cx="4381500" cy="218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/>
                <a:gridCol w="2857500"/>
              </a:tblGrid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AVERAGE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OVERUN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(%)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14%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18%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22%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27%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30%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7711" y="3873694"/>
            <a:ext cx="4022966" cy="235388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BUDGET</a:t>
            </a:r>
            <a:r>
              <a:rPr dirty="0" spc="-30"/>
              <a:t> </a:t>
            </a:r>
            <a:r>
              <a:rPr dirty="0"/>
              <a:t>OVERRUNS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INTERIOR</a:t>
            </a:r>
            <a:r>
              <a:rPr dirty="0" spc="-20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10"/>
              <a:t>PROJECT:</a:t>
            </a:r>
            <a:r>
              <a:rPr dirty="0" spc="-25"/>
              <a:t> </a:t>
            </a:r>
            <a:r>
              <a:rPr dirty="0"/>
              <a:t>CAUSE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SOLUTION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14959" y="700024"/>
            <a:ext cx="43268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r>
              <a:rPr dirty="0" sz="2800" spc="-5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Analysis</a:t>
            </a:r>
            <a:r>
              <a:rPr dirty="0" sz="2800" spc="-7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dirty="0" sz="2800" spc="-4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Times New Roman"/>
                <a:cs typeface="Times New Roman"/>
              </a:rPr>
              <a:t>Planning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59" y="700024"/>
            <a:ext cx="43268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r>
              <a:rPr dirty="0" sz="2800" spc="-5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Analysis</a:t>
            </a:r>
            <a:r>
              <a:rPr dirty="0" sz="2800" spc="-7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dirty="0" sz="2800" spc="-40" b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Times New Roman"/>
                <a:cs typeface="Times New Roman"/>
              </a:rPr>
              <a:t>Planning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BUDGET</a:t>
            </a:r>
            <a:r>
              <a:rPr dirty="0" spc="-30"/>
              <a:t> </a:t>
            </a:r>
            <a:r>
              <a:rPr dirty="0"/>
              <a:t>OVERRUNS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INTERIOR</a:t>
            </a:r>
            <a:r>
              <a:rPr dirty="0" spc="-20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10"/>
              <a:t>PROJECT:</a:t>
            </a:r>
            <a:r>
              <a:rPr dirty="0" spc="-25"/>
              <a:t> </a:t>
            </a:r>
            <a:r>
              <a:rPr dirty="0"/>
              <a:t>CAUSE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4959" y="1378711"/>
            <a:ext cx="1045337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PIE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CHART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COST</a:t>
            </a:r>
            <a:r>
              <a:rPr dirty="0" sz="1800" spc="-7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DISTRIBUTION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INTERIOR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DESIGN</a:t>
            </a:r>
            <a:r>
              <a:rPr dirty="0" sz="1800" spc="-4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PEOJECTS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distribution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interior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projects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includes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materials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(40%),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labor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(25%),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equipment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(15%),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waste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rework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(10%),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miscellaneous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(10%).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Sustainable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materials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tend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20-</a:t>
            </a:r>
            <a:r>
              <a:rPr dirty="0" sz="1800">
                <a:latin typeface="Times New Roman"/>
                <a:cs typeface="Times New Roman"/>
              </a:rPr>
              <a:t>30%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than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standard </a:t>
            </a:r>
            <a:r>
              <a:rPr dirty="0" sz="1800">
                <a:latin typeface="Times New Roman"/>
                <a:cs typeface="Times New Roman"/>
              </a:rPr>
              <a:t>options,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while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skilled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labor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costs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rising.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Efficient</a:t>
            </a:r>
            <a:r>
              <a:rPr dirty="0" sz="1800" spc="2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budgeting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practices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rework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costs, </a:t>
            </a:r>
            <a:r>
              <a:rPr dirty="0" sz="1800">
                <a:latin typeface="Times New Roman"/>
                <a:cs typeface="Times New Roman"/>
              </a:rPr>
              <a:t>while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sustainable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save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money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term.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31825" y="4070477"/>
          <a:ext cx="4953000" cy="1871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0"/>
                <a:gridCol w="1619250"/>
              </a:tblGrid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COMPONENT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FAE02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PERCENTAGE(%)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9FAE02"/>
                      </a:solidFill>
                      <a:prstDash val="solid"/>
                    </a:lnL>
                    <a:lnR w="9525">
                      <a:solidFill>
                        <a:srgbClr val="9FAE02"/>
                      </a:solidFill>
                      <a:prstDash val="solid"/>
                    </a:lnR>
                    <a:lnT w="19050">
                      <a:solidFill>
                        <a:srgbClr val="9FAE02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MATERIALS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40%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LABOR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EQUIPMENT/</a:t>
                      </a:r>
                      <a:r>
                        <a:rPr dirty="0"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TOOLS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WASTE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REWORK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MISCELLANEOUS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8171" y="3765379"/>
            <a:ext cx="4092012" cy="2452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59" y="1384553"/>
            <a:ext cx="1039114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BAR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GRAPH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CAUSES</a:t>
            </a:r>
            <a:r>
              <a:rPr dirty="0" sz="1800" spc="-6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OF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BUDGET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OVERRUNS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INTERIOR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DESIGN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PROJECTS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study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reveals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35%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budget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overruns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interior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projects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caused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costs,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labor </a:t>
            </a:r>
            <a:r>
              <a:rPr dirty="0" sz="1800">
                <a:latin typeface="Times New Roman"/>
                <a:cs typeface="Times New Roman"/>
              </a:rPr>
              <a:t>inefficiencies,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scope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creep,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miscellaneous</a:t>
            </a:r>
            <a:r>
              <a:rPr dirty="0" sz="1800" spc="3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factors.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address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issues,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suggests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predictive </a:t>
            </a:r>
            <a:r>
              <a:rPr dirty="0" sz="1800">
                <a:latin typeface="Times New Roman"/>
                <a:cs typeface="Times New Roman"/>
              </a:rPr>
              <a:t>modeling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software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incorporating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buffers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initial</a:t>
            </a:r>
            <a:r>
              <a:rPr dirty="0" sz="1800" spc="-10">
                <a:latin typeface="Times New Roman"/>
                <a:cs typeface="Times New Roman"/>
              </a:rPr>
              <a:t> budgets.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28625" y="3726307"/>
          <a:ext cx="5118100" cy="2108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9139"/>
                <a:gridCol w="3013710"/>
              </a:tblGrid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CAUSES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190" marR="624205" indent="2692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PERCENTAGE CONTRIBUTION(%)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MATERIAL COSTS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35%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296545" marR="288290" indent="3200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LABOUR INEFFICIENCIES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SCOPE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CREEP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MISCELLANEOUS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5810" y="3485277"/>
            <a:ext cx="4844148" cy="255721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4959" y="366776"/>
            <a:ext cx="8330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BUDGET</a:t>
            </a:r>
            <a:r>
              <a:rPr dirty="0" sz="1800" spc="-3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OVERRUNS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INTERIOR</a:t>
            </a:r>
            <a:r>
              <a:rPr dirty="0" sz="1800" spc="-2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DESIGN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PROJECT: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CAUSE</a:t>
            </a:r>
            <a:r>
              <a:rPr dirty="0" sz="1800" spc="-9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4959" y="700024"/>
            <a:ext cx="43268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r>
              <a:rPr dirty="0" sz="2800" spc="-5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Analysis</a:t>
            </a:r>
            <a:r>
              <a:rPr dirty="0" sz="2800" spc="-7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dirty="0" sz="2800" spc="-4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0">
                <a:solidFill>
                  <a:srgbClr val="006FC0"/>
                </a:solidFill>
                <a:latin typeface="Times New Roman"/>
                <a:cs typeface="Times New Roman"/>
              </a:rPr>
              <a:t>Planning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1931" y="1392174"/>
            <a:ext cx="997712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Times New Roman"/>
                <a:cs typeface="Times New Roman"/>
              </a:rPr>
              <a:t>CHART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BUDGET</a:t>
            </a:r>
            <a:r>
              <a:rPr dirty="0" sz="1800" spc="-9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CONTROL</a:t>
            </a:r>
            <a:r>
              <a:rPr dirty="0" sz="1800" spc="-8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PROCESS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INTERIOR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DESIGN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PROJECT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involves initial cost estimation, vendor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selection,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resource allocation,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 monitoring,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milestone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adjustments.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involves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detailed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quotes,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negotiating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long-</a:t>
            </a:r>
            <a:r>
              <a:rPr dirty="0" sz="1800">
                <a:latin typeface="Times New Roman"/>
                <a:cs typeface="Times New Roman"/>
              </a:rPr>
              <a:t>term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contracts,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scheduling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labor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resources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efficiently,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software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tools,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tracking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expenses,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reassessing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scopes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major </a:t>
            </a:r>
            <a:r>
              <a:rPr dirty="0" sz="1800">
                <a:latin typeface="Times New Roman"/>
                <a:cs typeface="Times New Roman"/>
              </a:rPr>
              <a:t>milestones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budget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compliance.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83590" y="3700271"/>
          <a:ext cx="10229850" cy="2135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9705"/>
                <a:gridCol w="2899410"/>
                <a:gridCol w="5786120"/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BUDGET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STAGE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ACTIONS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INITIAL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ESTIMATION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GATHER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SUPPLIER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QUOTES,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INCLUDE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CONTINGENCY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BUDGET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VENDOR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SELECTION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COMPARE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VENDORS,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NEGOTIATE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DISCOUNTS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ALLOCATION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EFFICIENT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LABOUR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MATERIAL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MANAGEMENT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MONITORING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TRACK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EXPENSES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REGULARLY,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ADJUST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BUDGETS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MILESTONE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ADJUSTMENTS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MODIFY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BUDGETS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PROGRESS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9525">
                      <a:solidFill>
                        <a:srgbClr val="CCCCC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314959" y="336803"/>
            <a:ext cx="8330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BUDGET</a:t>
            </a:r>
            <a:r>
              <a:rPr dirty="0" sz="1800" spc="-3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OVERRUNS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INTERIOR</a:t>
            </a:r>
            <a:r>
              <a:rPr dirty="0" sz="1800" spc="-2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DESIGN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PROJECT: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CAUSE</a:t>
            </a:r>
            <a:r>
              <a:rPr dirty="0" sz="1800" spc="-9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4959" y="700024"/>
            <a:ext cx="43268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r>
              <a:rPr dirty="0" sz="2800" spc="-5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Analysis</a:t>
            </a:r>
            <a:r>
              <a:rPr dirty="0" sz="2800" spc="-7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dirty="0" sz="2800" spc="-40" i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0">
                <a:solidFill>
                  <a:srgbClr val="006FC0"/>
                </a:solidFill>
                <a:latin typeface="Times New Roman"/>
                <a:cs typeface="Times New Roman"/>
              </a:rPr>
              <a:t>Planning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959" y="700024"/>
            <a:ext cx="17272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i="0">
                <a:solidFill>
                  <a:srgbClr val="006FC0"/>
                </a:solidFill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4959" y="336803"/>
            <a:ext cx="8330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BUDGET</a:t>
            </a:r>
            <a:r>
              <a:rPr dirty="0" sz="1800" spc="-3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OVERRUNS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INTERIOR</a:t>
            </a:r>
            <a:r>
              <a:rPr dirty="0" sz="1800" spc="-2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DESIGN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PROJECT: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CAUSE</a:t>
            </a:r>
            <a:r>
              <a:rPr dirty="0" sz="1800" spc="-90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b="1" i="1">
                <a:solidFill>
                  <a:srgbClr val="C55A11"/>
                </a:solidFill>
                <a:latin typeface="Times New Roman"/>
                <a:cs typeface="Times New Roman"/>
              </a:rPr>
              <a:t>AND</a:t>
            </a:r>
            <a:r>
              <a:rPr dirty="0" sz="1800" spc="-25" b="1" i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 i="1">
                <a:solidFill>
                  <a:srgbClr val="C55A11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5471" y="300227"/>
            <a:ext cx="783335" cy="1294638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1297686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98272" y="1721865"/>
            <a:ext cx="926020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Conclusion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trend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budget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overruns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interior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escalated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average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10%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2019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30%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2024,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primarily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attributed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factors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increasing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material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costs, </a:t>
            </a:r>
            <a:r>
              <a:rPr dirty="0" sz="1800">
                <a:latin typeface="Calibri"/>
                <a:cs typeface="Calibri"/>
              </a:rPr>
              <a:t>labor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inefficiencies,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scope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changes.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distribution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shows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materials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constitute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 </a:t>
            </a:r>
            <a:r>
              <a:rPr dirty="0" sz="1800">
                <a:latin typeface="Calibri"/>
                <a:cs typeface="Calibri"/>
              </a:rPr>
              <a:t>significant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portion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expenses,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impact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external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factors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inflation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supply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chain disruptions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overlooked.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effective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critical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achieve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successful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delivery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within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budget.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BUDGET</a:t>
            </a:r>
            <a:r>
              <a:rPr dirty="0" spc="-30"/>
              <a:t> </a:t>
            </a:r>
            <a:r>
              <a:rPr dirty="0"/>
              <a:t>OVERRUNS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INTERIOR</a:t>
            </a:r>
            <a:r>
              <a:rPr dirty="0" spc="-20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10"/>
              <a:t>PROJECT:</a:t>
            </a:r>
            <a:r>
              <a:rPr dirty="0" spc="-25"/>
              <a:t> </a:t>
            </a:r>
            <a:r>
              <a:rPr dirty="0"/>
              <a:t>CAUSE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0" y="1297686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14959" y="700024"/>
            <a:ext cx="283337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06FC0"/>
                </a:solidFill>
                <a:latin typeface="Times New Roman"/>
                <a:cs typeface="Times New Roman"/>
              </a:rPr>
              <a:t>Recommendations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5471" y="300227"/>
            <a:ext cx="783335" cy="129463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4959" y="1613661"/>
            <a:ext cx="10175875" cy="414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Recommendations</a:t>
            </a:r>
            <a:endParaRPr sz="1800">
              <a:latin typeface="Calibri"/>
              <a:cs typeface="Calibri"/>
            </a:endParaRPr>
          </a:p>
          <a:p>
            <a:pPr marL="12700" marR="210185" indent="-9525">
              <a:lnSpc>
                <a:spcPct val="100000"/>
              </a:lnSpc>
              <a:spcBef>
                <a:spcPts val="2160"/>
              </a:spcBef>
              <a:buSzPct val="91666"/>
              <a:buAutoNum type="arabicPeriod"/>
              <a:tabLst>
                <a:tab pos="187325" algn="l"/>
              </a:tabLst>
            </a:pPr>
            <a:r>
              <a:rPr dirty="0" sz="1800" b="1">
                <a:latin typeface="Calibri"/>
                <a:cs typeface="Calibri"/>
              </a:rPr>
              <a:t>Utilize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Predictive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Modeling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Software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advanced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predictive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tools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help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 managers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anticipate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budgetary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adjust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forecasts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accordingly.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proactive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approach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creates</a:t>
            </a:r>
            <a:r>
              <a:rPr dirty="0" sz="1800" spc="-50">
                <a:latin typeface="Calibri"/>
                <a:cs typeface="Calibri"/>
              </a:rPr>
              <a:t> a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reliable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budgeting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framework.</a:t>
            </a:r>
            <a:endParaRPr sz="1800">
              <a:latin typeface="Calibri"/>
              <a:cs typeface="Calibri"/>
            </a:endParaRPr>
          </a:p>
          <a:p>
            <a:pPr marL="12700" marR="33020" indent="-9525">
              <a:lnSpc>
                <a:spcPct val="100000"/>
              </a:lnSpc>
              <a:buSzPct val="91666"/>
              <a:buAutoNum type="arabicPeriod"/>
              <a:tabLst>
                <a:tab pos="187325" algn="l"/>
              </a:tabLst>
            </a:pPr>
            <a:r>
              <a:rPr dirty="0" sz="1800" spc="-10" b="1">
                <a:latin typeface="Calibri"/>
                <a:cs typeface="Calibri"/>
              </a:rPr>
              <a:t>Incorporate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Budget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Buffers</a:t>
            </a:r>
            <a:r>
              <a:rPr dirty="0" sz="1800" spc="-10">
                <a:latin typeface="Calibri"/>
                <a:cs typeface="Calibri"/>
              </a:rPr>
              <a:t>: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contingency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funds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budgets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help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mitigate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impact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unexpected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associated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material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increases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labor.</a:t>
            </a:r>
            <a:endParaRPr sz="1800">
              <a:latin typeface="Calibri"/>
              <a:cs typeface="Calibri"/>
            </a:endParaRPr>
          </a:p>
          <a:p>
            <a:pPr marL="12700" marR="793115" indent="-9525">
              <a:lnSpc>
                <a:spcPct val="100000"/>
              </a:lnSpc>
              <a:buSzPct val="91666"/>
              <a:buAutoNum type="arabicPeriod"/>
              <a:tabLst>
                <a:tab pos="187325" algn="l"/>
              </a:tabLst>
            </a:pPr>
            <a:r>
              <a:rPr dirty="0" sz="1800" b="1">
                <a:latin typeface="Calibri"/>
                <a:cs typeface="Calibri"/>
              </a:rPr>
              <a:t>Enhance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Vendor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Management</a:t>
            </a:r>
            <a:r>
              <a:rPr dirty="0" sz="1800" spc="-10">
                <a:latin typeface="Calibri"/>
                <a:cs typeface="Calibri"/>
              </a:rPr>
              <a:t>: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Streamlining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vendor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processes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negotiating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long-</a:t>
            </a:r>
            <a:r>
              <a:rPr dirty="0" sz="1800" spc="-20">
                <a:latin typeface="Calibri"/>
                <a:cs typeface="Calibri"/>
              </a:rPr>
              <a:t>term </a:t>
            </a:r>
            <a:r>
              <a:rPr dirty="0" sz="1800" spc="-10">
                <a:latin typeface="Calibri"/>
                <a:cs typeface="Calibri"/>
              </a:rPr>
              <a:t>contracts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savings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help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prices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better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  <a:p>
            <a:pPr marL="12700" marR="5080" indent="-9525">
              <a:lnSpc>
                <a:spcPct val="100000"/>
              </a:lnSpc>
              <a:buSzPct val="91666"/>
              <a:buAutoNum type="arabicPeriod"/>
              <a:tabLst>
                <a:tab pos="187325" algn="l"/>
              </a:tabLst>
            </a:pPr>
            <a:r>
              <a:rPr dirty="0" sz="1800" b="1">
                <a:latin typeface="Calibri"/>
                <a:cs typeface="Calibri"/>
              </a:rPr>
              <a:t>Improve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Allocation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scheduling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labor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resources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significantly </a:t>
            </a:r>
            <a:r>
              <a:rPr dirty="0" sz="1800">
                <a:latin typeface="Calibri"/>
                <a:cs typeface="Calibri"/>
              </a:rPr>
              <a:t>reduce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costs.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training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staff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optimize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resource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efficiency.</a:t>
            </a:r>
            <a:endParaRPr sz="1800">
              <a:latin typeface="Calibri"/>
              <a:cs typeface="Calibri"/>
            </a:endParaRPr>
          </a:p>
          <a:p>
            <a:pPr marL="12700" marR="869315" indent="-9525">
              <a:lnSpc>
                <a:spcPct val="100000"/>
              </a:lnSpc>
              <a:buSzPct val="91666"/>
              <a:buAutoNum type="arabicPeriod"/>
              <a:tabLst>
                <a:tab pos="187325" algn="l"/>
              </a:tabLst>
            </a:pPr>
            <a:r>
              <a:rPr dirty="0" sz="1800" spc="-10" b="1">
                <a:latin typeface="Calibri"/>
                <a:cs typeface="Calibri"/>
              </a:rPr>
              <a:t>Real-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Monitoring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tracking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mechanisms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expenses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quick identification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budget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deviations,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enabling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interventions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keep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track.</a:t>
            </a:r>
            <a:endParaRPr sz="1800">
              <a:latin typeface="Calibri"/>
              <a:cs typeface="Calibri"/>
            </a:endParaRPr>
          </a:p>
          <a:p>
            <a:pPr marL="12700" marR="176530" indent="-8890">
              <a:lnSpc>
                <a:spcPct val="100000"/>
              </a:lnSpc>
              <a:buSzPct val="91666"/>
              <a:buAutoNum type="arabicPeriod"/>
              <a:tabLst>
                <a:tab pos="184785" algn="l"/>
              </a:tabLst>
            </a:pPr>
            <a:r>
              <a:rPr dirty="0" sz="1800">
                <a:latin typeface="Calibri"/>
                <a:cs typeface="Calibri"/>
              </a:rPr>
              <a:t>Address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Scope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Creep: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clear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scopes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regularly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reassess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major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milestones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prevent </a:t>
            </a:r>
            <a:r>
              <a:rPr dirty="0" sz="1800">
                <a:latin typeface="Calibri"/>
                <a:cs typeface="Calibri"/>
              </a:rPr>
              <a:t>scope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significant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overruns.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27294" y="4046982"/>
            <a:ext cx="28155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55A11"/>
                </a:solidFill>
                <a:latin typeface="Times New Roman"/>
                <a:cs typeface="Times New Roman"/>
              </a:rPr>
              <a:t>THANK</a:t>
            </a:r>
            <a:r>
              <a:rPr dirty="0" sz="3600" spc="-140" b="1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dirty="0" sz="3600" spc="-25" b="1">
                <a:solidFill>
                  <a:srgbClr val="C55A11"/>
                </a:solidFill>
                <a:latin typeface="Times New Roman"/>
                <a:cs typeface="Times New Roman"/>
              </a:rPr>
              <a:t>YOU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255" y="1524761"/>
            <a:ext cx="2056638" cy="38084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Venkataram</dc:creator>
  <dc:title>PowerPoint Presentation</dc:title>
  <dcterms:created xsi:type="dcterms:W3CDTF">2025-11-17T02:38:19Z</dcterms:created>
  <dcterms:modified xsi:type="dcterms:W3CDTF">2025-11-17T02:38:19Z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2025-11-17T00:00:00Z</vt:filetime>
  </property>
  <property fmtid="{D5CDD505-2E9C-101B-9397-08002B2CF9AE}" pid="5" name="Producer">
    <vt:lpwstr>Adobe PDF Services</vt:lpwstr>
  </property>
</Properties>
</file>